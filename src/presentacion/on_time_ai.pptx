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Host Grotesk Medium"/>
      <p:regular r:id="rId21"/>
    </p:embeddedFont>
    <p:embeddedFont>
      <p:font typeface="Host Grotesk Medium"/>
      <p:regular r:id="rId22"/>
    </p:embeddedFont>
    <p:embeddedFont>
      <p:font typeface="Roboto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FF6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0" Type="http://schemas.openxmlformats.org/officeDocument/2006/relationships/hyperlink" Target="https://mlshipping-ontimeai.streamlit.app/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404" y="142532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 TIME AI: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987698" y="1925017"/>
            <a:ext cx="37396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Predecir retrasos antes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085404" y="242470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 que ocurran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496119" y="3080296"/>
            <a:ext cx="4722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Irene Díaz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de Machine Learning - Bootcamp Data Science - The Bridge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406152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 problema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81757"/>
            <a:ext cx="2690813" cy="47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 de cada 10 paquetes llegan tarde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41871" y="1667619"/>
            <a:ext cx="2690813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empresa de e-commerce gestiona miles de envíos diarios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1871" y="2126903"/>
            <a:ext cx="2690813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59,7% llegan tarde al cliente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1871" y="2407146"/>
            <a:ext cx="2690813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Retraso no gestionado = reclamación, reseña negativa o pérdida del cliente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1871" y="2891730"/>
            <a:ext cx="2690813" cy="666378"/>
          </a:xfrm>
          <a:prstGeom prst="roundRect">
            <a:avLst>
              <a:gd name="adj" fmla="val 7958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77" y="3058641"/>
            <a:ext cx="157758" cy="1262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2041" y="3035722"/>
            <a:ext cx="2154436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problema no es puntual, es sistémico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1871" y="3684612"/>
            <a:ext cx="2690813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1871" y="3964856"/>
            <a:ext cx="2690813" cy="67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¿Y si pudiéramos saber qué paquetes van a llegar tarde</a:t>
            </a:r>
            <a:pPr algn="ctr" indent="0" marL="0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ANTES</a:t>
            </a:r>
            <a:pPr algn="ctr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que salgan del almacén?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095821"/>
            <a:ext cx="4608537" cy="3410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3983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144786"/>
            <a:ext cx="8167241" cy="538609"/>
          </a:xfrm>
          <a:prstGeom prst="roundRect">
            <a:avLst>
              <a:gd name="adj" fmla="val 62183"/>
            </a:avLst>
          </a:prstGeom>
          <a:solidFill>
            <a:srgbClr val="64B8CE"/>
          </a:solidFill>
          <a:ln/>
        </p:spPr>
      </p:sp>
      <p:sp>
        <p:nvSpPr>
          <p:cNvPr id="4" name="Text 2"/>
          <p:cNvSpPr/>
          <p:nvPr/>
        </p:nvSpPr>
        <p:spPr>
          <a:xfrm>
            <a:off x="627906" y="1284312"/>
            <a:ext cx="788818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11.000 REGISTROS Y 12 VARIABLES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8379" y="1961480"/>
            <a:ext cx="2807419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 </a:t>
            </a:r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C2E9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Reached.on.Time_Y.N</a:t>
            </a:r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8379" y="2613720"/>
            <a:ext cx="2807419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= a tiempo | 1 = retraso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8379" y="2996878"/>
            <a:ext cx="280741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8379" y="3358976"/>
            <a:ext cx="2807419" cy="1195983"/>
          </a:xfrm>
          <a:prstGeom prst="roundRect">
            <a:avLst>
              <a:gd name="adj" fmla="val 4901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6" y="3558853"/>
            <a:ext cx="174427" cy="1395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59" y="3531171"/>
            <a:ext cx="2214414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métrica prioritaria es el </a:t>
            </a:r>
            <a:pPr algn="l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detectar el máximo número de retrasos reales antes de que ocurran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40931" y="1992362"/>
            <a:ext cx="2441004" cy="1087785"/>
          </a:xfrm>
          <a:prstGeom prst="roundRect">
            <a:avLst>
              <a:gd name="adj" fmla="val 8406"/>
            </a:avLst>
          </a:prstGeom>
          <a:solidFill>
            <a:srgbClr val="CFF6E7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881" y="1992362"/>
            <a:ext cx="76200" cy="10877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6658" y="21509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Peso del paquete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856658" y="2506340"/>
            <a:ext cx="2066702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continua clave con comportamiento contraintuitivo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9304" y="1992362"/>
            <a:ext cx="2441004" cy="1087785"/>
          </a:xfrm>
          <a:prstGeom prst="roundRect">
            <a:avLst>
              <a:gd name="adj" fmla="val 8406"/>
            </a:avLst>
          </a:prstGeom>
          <a:solidFill>
            <a:srgbClr val="CFF6E7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254" y="1992362"/>
            <a:ext cx="76200" cy="10877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5030" y="21509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Descuento aplicado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35030" y="2506340"/>
            <a:ext cx="2066702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Factor de riesgo número uno en todas las metodologías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40931" y="3217515"/>
            <a:ext cx="2441004" cy="1305818"/>
          </a:xfrm>
          <a:prstGeom prst="roundRect">
            <a:avLst>
              <a:gd name="adj" fmla="val 7003"/>
            </a:avLst>
          </a:prstGeom>
          <a:solidFill>
            <a:srgbClr val="CFF6E7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881" y="3217515"/>
            <a:ext cx="76200" cy="13058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56658" y="337609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Modo de envío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856658" y="3731493"/>
            <a:ext cx="2066702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Barco, avión o por carretera tienen impactos muy distintos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219304" y="3217515"/>
            <a:ext cx="2441004" cy="1305818"/>
          </a:xfrm>
          <a:prstGeom prst="roundRect">
            <a:avLst>
              <a:gd name="adj" fmla="val 7003"/>
            </a:avLst>
          </a:prstGeom>
          <a:solidFill>
            <a:srgbClr val="CFF6E7"/>
          </a:solidFill>
          <a:ln w="19050">
            <a:solidFill>
              <a:srgbClr val="BFD3D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254" y="3217515"/>
            <a:ext cx="76200" cy="13058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35030" y="3376092"/>
            <a:ext cx="206670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Coste del producto, bloque del almacén…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35030" y="3949526"/>
            <a:ext cx="2066702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de contexto con capacidad predictiva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838" y="252561"/>
            <a:ext cx="275175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¿Qué encontramos en el EDA?</a:t>
            </a:r>
            <a:endParaRPr lang="en-US" sz="1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357" y="591369"/>
            <a:ext cx="1293614" cy="1293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6425" y="1941016"/>
            <a:ext cx="1685553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Hallazgo 1</a:t>
            </a:r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El efecto del descuento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820838" y="2092523"/>
            <a:ext cx="1796728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partir del </a:t>
            </a:r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 de descuento</a:t>
            </a:r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ningún envío llega a tiempo → Las campañas promocionales colapsan la logística</a:t>
            </a:r>
            <a:endParaRPr lang="en-US" sz="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591369"/>
            <a:ext cx="1293614" cy="1293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2530" y="1941016"/>
            <a:ext cx="151886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Hallazgo 2</a:t>
            </a:r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El peso del paquete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3673599" y="2092523"/>
            <a:ext cx="1796728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paquetes </a:t>
            </a:r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ligeros (1–2 kg) se retrasan más. </a:t>
            </a:r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pesados (4–6 kg) llegan mejor → Resultado contraintuitivo</a:t>
            </a:r>
            <a:endParaRPr lang="en-US" sz="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80" y="591369"/>
            <a:ext cx="1293614" cy="1293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26360" y="1941016"/>
            <a:ext cx="1796728" cy="249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Hallazgo 3</a:t>
            </a:r>
            <a:pPr algn="ct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— El barco, el modo más problemático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5526360" y="2217167"/>
            <a:ext cx="1796728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 el mayor volumen de retrasos, tanto en valor absoluto como en proporción sobre el total de envíos</a:t>
            </a:r>
            <a:endParaRPr lang="en-US" sz="600" dirty="0"/>
          </a:p>
        </p:txBody>
      </p:sp>
      <p:sp>
        <p:nvSpPr>
          <p:cNvPr id="12" name="Text 7"/>
          <p:cNvSpPr/>
          <p:nvPr/>
        </p:nvSpPr>
        <p:spPr>
          <a:xfrm>
            <a:off x="1820838" y="2548012"/>
            <a:ext cx="5502325" cy="93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13" y="2691929"/>
            <a:ext cx="4454500" cy="2199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8166"/>
            <a:ext cx="24919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Preprocesamiento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779785"/>
            <a:ext cx="6877869" cy="159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limpio: sin nulos ni duplicados</a:t>
            </a:r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Directos a fase de transformación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028" y="1017687"/>
            <a:ext cx="5499795" cy="379757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6761" y="2966513"/>
            <a:ext cx="201841" cy="2018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11829" y="3868490"/>
            <a:ext cx="1513808" cy="189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Encoding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958005" y="4111541"/>
            <a:ext cx="1621457" cy="25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Ordinal: 'Product_importance' (low=1, medium=2, high=3)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958005" y="4423133"/>
            <a:ext cx="1621457" cy="3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One-Hot: 'Warehouse_block', 'Mode_of_Shipment' y 'Gender', sin orden natural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1080" y="2677208"/>
            <a:ext cx="201841" cy="2018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09419" y="1463533"/>
            <a:ext cx="1513808" cy="189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155595" y="1706583"/>
            <a:ext cx="1621457" cy="25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StandardScaler aplicado a Regresión Logística y KNN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5398" y="2966513"/>
            <a:ext cx="201841" cy="2018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13738" y="3868490"/>
            <a:ext cx="1513808" cy="189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Split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359914" y="4111541"/>
            <a:ext cx="1621457" cy="51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train 20% test estratificado para mantener la proporción de retrasos en ambos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9717" y="2677208"/>
            <a:ext cx="201841" cy="2018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18056" y="1334649"/>
            <a:ext cx="1513809" cy="189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Recall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5564232" y="1577699"/>
            <a:ext cx="1621456" cy="3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Métrica objetivo para priorizar detección de todos los retrasos reales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50924"/>
            <a:ext cx="386856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Modelado supervisado y sus métricas clave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97261" y="577974"/>
            <a:ext cx="5349478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retraso no detectado = cliente que reclama sin haber recibido ninguna atención proactiva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897261" y="737964"/>
            <a:ext cx="5349478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Métricas: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897261" y="897954"/>
            <a:ext cx="1754907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6" name="Text 4"/>
          <p:cNvSpPr/>
          <p:nvPr/>
        </p:nvSpPr>
        <p:spPr>
          <a:xfrm>
            <a:off x="2193280" y="97542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94509" y="897954"/>
            <a:ext cx="1754907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8" name="Text 6"/>
          <p:cNvSpPr/>
          <p:nvPr/>
        </p:nvSpPr>
        <p:spPr>
          <a:xfrm>
            <a:off x="3990529" y="97542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Precision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91758" y="897954"/>
            <a:ext cx="1754981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10" name="Text 8"/>
          <p:cNvSpPr/>
          <p:nvPr/>
        </p:nvSpPr>
        <p:spPr>
          <a:xfrm>
            <a:off x="5787777" y="97542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F1-Score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7261" y="1240557"/>
            <a:ext cx="2653531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12" name="Text 10"/>
          <p:cNvSpPr/>
          <p:nvPr/>
        </p:nvSpPr>
        <p:spPr>
          <a:xfrm>
            <a:off x="2642592" y="131802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3134" y="1240557"/>
            <a:ext cx="2653605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14" name="Text 12"/>
          <p:cNvSpPr/>
          <p:nvPr/>
        </p:nvSpPr>
        <p:spPr>
          <a:xfrm>
            <a:off x="5338465" y="131802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ROC-AUC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97261" y="1588443"/>
            <a:ext cx="5349478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Modelos: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97261" y="1748433"/>
            <a:ext cx="1754907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17" name="Text 15"/>
          <p:cNvSpPr/>
          <p:nvPr/>
        </p:nvSpPr>
        <p:spPr>
          <a:xfrm>
            <a:off x="2193280" y="182589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Regresión Logística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509" y="1748433"/>
            <a:ext cx="1754907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19" name="Text 17"/>
          <p:cNvSpPr/>
          <p:nvPr/>
        </p:nvSpPr>
        <p:spPr>
          <a:xfrm>
            <a:off x="3990529" y="182589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Árbol de decisión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1758" y="1748433"/>
            <a:ext cx="1754981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21" name="Text 19"/>
          <p:cNvSpPr/>
          <p:nvPr/>
        </p:nvSpPr>
        <p:spPr>
          <a:xfrm>
            <a:off x="5787777" y="182589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97261" y="2091035"/>
            <a:ext cx="2653531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23" name="Text 21"/>
          <p:cNvSpPr/>
          <p:nvPr/>
        </p:nvSpPr>
        <p:spPr>
          <a:xfrm>
            <a:off x="2642592" y="216850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XGBoost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3134" y="2091035"/>
            <a:ext cx="2653605" cy="300261"/>
          </a:xfrm>
          <a:prstGeom prst="roundRect">
            <a:avLst>
              <a:gd name="adj" fmla="val 10845"/>
            </a:avLst>
          </a:prstGeom>
          <a:solidFill>
            <a:srgbClr val="C7E0E7"/>
          </a:solidFill>
          <a:ln/>
        </p:spPr>
      </p:sp>
      <p:sp>
        <p:nvSpPr>
          <p:cNvPr id="25" name="Text 23"/>
          <p:cNvSpPr/>
          <p:nvPr/>
        </p:nvSpPr>
        <p:spPr>
          <a:xfrm>
            <a:off x="5338465" y="216850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KNN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261" y="2438921"/>
            <a:ext cx="5349478" cy="2453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3226"/>
            <a:ext cx="441848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Los ajustes que lo cambiaron todo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66180"/>
            <a:ext cx="7794947" cy="19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 tenía un Recall inicial del 47%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1238622"/>
            <a:ext cx="5696545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 ajuste: parámetro: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C2E9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scale_pos_weight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4489" y="1534864"/>
            <a:ext cx="5696545" cy="796751"/>
          </a:xfrm>
          <a:prstGeom prst="roundRect">
            <a:avLst>
              <a:gd name="adj" fmla="val 5955"/>
            </a:avLst>
          </a:prstGeom>
          <a:solidFill>
            <a:srgbClr val="D9EDF2"/>
          </a:solidFill>
          <a:ln/>
        </p:spPr>
      </p:sp>
      <p:sp>
        <p:nvSpPr>
          <p:cNvPr id="6" name="Shape 4"/>
          <p:cNvSpPr/>
          <p:nvPr/>
        </p:nvSpPr>
        <p:spPr>
          <a:xfrm>
            <a:off x="674489" y="1534864"/>
            <a:ext cx="2848273" cy="796751"/>
          </a:xfrm>
          <a:prstGeom prst="roundRect">
            <a:avLst>
              <a:gd name="adj" fmla="val 5955"/>
            </a:avLst>
          </a:prstGeom>
          <a:solidFill>
            <a:srgbClr val="C7E0E7"/>
          </a:solidFill>
          <a:ln/>
        </p:spPr>
      </p:sp>
      <p:sp>
        <p:nvSpPr>
          <p:cNvPr id="7" name="Text 5"/>
          <p:cNvSpPr/>
          <p:nvPr/>
        </p:nvSpPr>
        <p:spPr>
          <a:xfrm>
            <a:off x="787450" y="164782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❌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Cálculo incorrecto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7450" y="1914302"/>
            <a:ext cx="2622352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negativos/positivos =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0,68</a:t>
            </a:r>
            <a:endParaRPr lang="en-US" sz="85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priorizaba los envíos puntuales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2762" y="1534864"/>
            <a:ext cx="2848273" cy="796751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0" name="Shape 8"/>
          <p:cNvSpPr/>
          <p:nvPr/>
        </p:nvSpPr>
        <p:spPr>
          <a:xfrm>
            <a:off x="3522762" y="1534864"/>
            <a:ext cx="14288" cy="796751"/>
          </a:xfrm>
          <a:prstGeom prst="roundRect">
            <a:avLst>
              <a:gd name="adj" fmla="val 332082"/>
            </a:avLst>
          </a:prstGeom>
          <a:solidFill>
            <a:srgbClr val="ADC6CD"/>
          </a:solidFill>
          <a:ln/>
        </p:spPr>
      </p:sp>
      <p:sp>
        <p:nvSpPr>
          <p:cNvPr id="11" name="Text 9"/>
          <p:cNvSpPr/>
          <p:nvPr/>
        </p:nvSpPr>
        <p:spPr>
          <a:xfrm>
            <a:off x="3635722" y="164782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✅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Cálculo correcto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5722" y="1914302"/>
            <a:ext cx="2622352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positivos/negativos =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1,48</a:t>
            </a:r>
            <a:endParaRPr lang="en-US" sz="85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prioriza detectar retrasos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70092" y="1157660"/>
            <a:ext cx="1985367" cy="1275159"/>
          </a:xfrm>
          <a:prstGeom prst="roundRect">
            <a:avLst>
              <a:gd name="adj" fmla="val 6379"/>
            </a:avLst>
          </a:prstGeom>
          <a:solidFill>
            <a:srgbClr val="95CCDA"/>
          </a:solidFill>
          <a:ln/>
        </p:spPr>
      </p:sp>
      <p:sp>
        <p:nvSpPr>
          <p:cNvPr id="14" name="Text 12"/>
          <p:cNvSpPr/>
          <p:nvPr/>
        </p:nvSpPr>
        <p:spPr>
          <a:xfrm>
            <a:off x="6683053" y="124762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83053" y="1514103"/>
            <a:ext cx="175944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Recall pasó del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47%</a:t>
            </a:r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91,6%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83053" y="1747242"/>
            <a:ext cx="1759446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solo parámetro, 44 puntos de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diferencia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4489" y="2614985"/>
            <a:ext cx="5696545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Segundo ajuste:  parámetro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C2E9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4489" y="2911227"/>
            <a:ext cx="5696545" cy="948928"/>
          </a:xfrm>
          <a:prstGeom prst="roundRect">
            <a:avLst>
              <a:gd name="adj" fmla="val 5000"/>
            </a:avLst>
          </a:prstGeom>
          <a:solidFill>
            <a:srgbClr val="D9ED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74489" y="2911227"/>
            <a:ext cx="2848273" cy="948928"/>
          </a:xfrm>
          <a:prstGeom prst="roundRect">
            <a:avLst>
              <a:gd name="adj" fmla="val 5000"/>
            </a:avLst>
          </a:prstGeom>
          <a:solidFill>
            <a:srgbClr val="C7E0E7"/>
          </a:solidFill>
          <a:ln/>
        </p:spPr>
      </p:sp>
      <p:sp>
        <p:nvSpPr>
          <p:cNvPr id="20" name="Text 18"/>
          <p:cNvSpPr/>
          <p:nvPr/>
        </p:nvSpPr>
        <p:spPr>
          <a:xfrm>
            <a:off x="787450" y="302418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⚙️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Valor inicial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7450" y="3290664"/>
            <a:ext cx="2622352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learning_rate =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0,1</a:t>
            </a:r>
            <a:endParaRPr lang="en-US" sz="85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árbol corrige el error en pasos grandes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22762" y="2911227"/>
            <a:ext cx="2848273" cy="948928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2762" y="2911227"/>
            <a:ext cx="14288" cy="948928"/>
          </a:xfrm>
          <a:prstGeom prst="roundRect">
            <a:avLst>
              <a:gd name="adj" fmla="val 332082"/>
            </a:avLst>
          </a:prstGeom>
          <a:solidFill>
            <a:srgbClr val="ADC6CD"/>
          </a:solidFill>
          <a:ln/>
        </p:spPr>
      </p:sp>
      <p:sp>
        <p:nvSpPr>
          <p:cNvPr id="24" name="Text 22"/>
          <p:cNvSpPr/>
          <p:nvPr/>
        </p:nvSpPr>
        <p:spPr>
          <a:xfrm>
            <a:off x="3635722" y="3024188"/>
            <a:ext cx="210777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✅</a:t>
            </a:r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Valor óptimo (GridSearchCV)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5722" y="3290664"/>
            <a:ext cx="2622352" cy="456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learning_rate =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0,05</a:t>
            </a:r>
            <a:endParaRPr lang="en-US" sz="85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Corrige el error de forma más precisa y conservadora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70092" y="2534022"/>
            <a:ext cx="1985367" cy="1427336"/>
          </a:xfrm>
          <a:prstGeom prst="roundRect">
            <a:avLst>
              <a:gd name="adj" fmla="val 5699"/>
            </a:avLst>
          </a:prstGeom>
          <a:solidFill>
            <a:srgbClr val="95CCDA"/>
          </a:solidFill>
          <a:ln/>
        </p:spPr>
      </p:sp>
      <p:sp>
        <p:nvSpPr>
          <p:cNvPr id="27" name="Text 25"/>
          <p:cNvSpPr/>
          <p:nvPr/>
        </p:nvSpPr>
        <p:spPr>
          <a:xfrm>
            <a:off x="6683053" y="262398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3053" y="2890465"/>
            <a:ext cx="175944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Recall pasó del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91,6%</a:t>
            </a:r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 </a:t>
            </a:r>
            <a:pPr algn="l" indent="0" marL="0">
              <a:lnSpc>
                <a:spcPts val="11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83053" y="3123605"/>
            <a:ext cx="1759446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Otro parámetro que lo sube más de 6 puntos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4489" y="4062561"/>
            <a:ext cx="7794947" cy="747638"/>
          </a:xfrm>
          <a:prstGeom prst="roundRect">
            <a:avLst>
              <a:gd name="adj" fmla="val 6346"/>
            </a:avLst>
          </a:prstGeom>
          <a:solidFill>
            <a:srgbClr val="C6E4EB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50" y="4194349"/>
            <a:ext cx="211782" cy="16944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12193" y="4180731"/>
            <a:ext cx="2026369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Modelo ganador: XGBoost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12193" y="4482480"/>
            <a:ext cx="7244283" cy="19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59,8% · Precision 60% ·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 98%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F1 74,4% · ROC-AUC 0,756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4789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Clustering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45219" y="910382"/>
            <a:ext cx="8253487" cy="445889"/>
          </a:xfrm>
          <a:prstGeom prst="roundRect">
            <a:avLst>
              <a:gd name="adj" fmla="val 64384"/>
            </a:avLst>
          </a:prstGeom>
          <a:solidFill>
            <a:srgbClr val="64B8CE"/>
          </a:solidFill>
          <a:ln/>
        </p:spPr>
      </p:sp>
      <p:sp>
        <p:nvSpPr>
          <p:cNvPr id="4" name="Text 2"/>
          <p:cNvSpPr/>
          <p:nvPr/>
        </p:nvSpPr>
        <p:spPr>
          <a:xfrm>
            <a:off x="564803" y="1029965"/>
            <a:ext cx="8014320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K-Means: K=3 elegido por Método del Codo + Índice de Silhouette (0.2386)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1469752"/>
            <a:ext cx="8253487" cy="30601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5219" y="4643363"/>
            <a:ext cx="8253487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81136"/>
            <a:ext cx="23258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693911"/>
            <a:ext cx="641940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Mismo patrón que el EDA y modelos supervisados: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retrasos no son aleatorios, se agrupan en perfiles de envío identificables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62298" y="1051471"/>
            <a:ext cx="2099072" cy="975643"/>
          </a:xfrm>
          <a:prstGeom prst="roundRect">
            <a:avLst>
              <a:gd name="adj" fmla="val 4005"/>
            </a:avLst>
          </a:prstGeom>
          <a:solidFill>
            <a:srgbClr val="D9ED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316" y="1144488"/>
            <a:ext cx="279053" cy="27905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2037" y="1221209"/>
            <a:ext cx="125537" cy="125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5316" y="148456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Cluster 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55316" y="1666503"/>
            <a:ext cx="191303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99.5% de retraso · 20.9% de envíos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455316" y="1818605"/>
            <a:ext cx="191303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Descuento alto (media 40%)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522390" y="1051471"/>
            <a:ext cx="2099146" cy="975643"/>
          </a:xfrm>
          <a:prstGeom prst="roundRect">
            <a:avLst>
              <a:gd name="adj" fmla="val 4005"/>
            </a:avLst>
          </a:prstGeom>
          <a:solidFill>
            <a:srgbClr val="D9EDF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407" y="1144488"/>
            <a:ext cx="279053" cy="27905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2128" y="1221209"/>
            <a:ext cx="125537" cy="1255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15407" y="148456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Cluster 1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615407" y="1666503"/>
            <a:ext cx="191311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47.9% de retraso · 55.4% de envíos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3615407" y="1818605"/>
            <a:ext cx="191311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Paquete pesado (media 4.801g)</a:t>
            </a:r>
            <a:endParaRPr lang="en-US" sz="700" dirty="0"/>
          </a:p>
        </p:txBody>
      </p:sp>
      <p:sp>
        <p:nvSpPr>
          <p:cNvPr id="16" name="Shape 10"/>
          <p:cNvSpPr/>
          <p:nvPr/>
        </p:nvSpPr>
        <p:spPr>
          <a:xfrm>
            <a:off x="5682555" y="1051471"/>
            <a:ext cx="2099072" cy="975643"/>
          </a:xfrm>
          <a:prstGeom prst="roundRect">
            <a:avLst>
              <a:gd name="adj" fmla="val 4005"/>
            </a:avLst>
          </a:prstGeom>
          <a:solidFill>
            <a:srgbClr val="D9EDF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5573" y="1144488"/>
            <a:ext cx="279053" cy="279053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2294" y="1221209"/>
            <a:ext cx="125537" cy="12553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75573" y="148456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Cluster 2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5775573" y="1666503"/>
            <a:ext cx="191303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52.3% de retraso · 23.7% de envíos</a:t>
            </a:r>
            <a:endParaRPr lang="en-US" sz="700" dirty="0"/>
          </a:p>
        </p:txBody>
      </p:sp>
      <p:sp>
        <p:nvSpPr>
          <p:cNvPr id="21" name="Text 13"/>
          <p:cNvSpPr/>
          <p:nvPr/>
        </p:nvSpPr>
        <p:spPr>
          <a:xfrm>
            <a:off x="5775573" y="1818605"/>
            <a:ext cx="191303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 fidelizado</a:t>
            </a:r>
            <a:endParaRPr lang="en-US" sz="7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298" y="2095798"/>
            <a:ext cx="6419404" cy="27664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17302"/>
            <a:ext cx="25473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Impacto de negocio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45480"/>
            <a:ext cx="7030715" cy="164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cada 100 retrasos reales, 98 son detectados antes de que ocurran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6605" y="1125289"/>
            <a:ext cx="2663130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1.287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51335" y="1567309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Clientes alertados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6605" y="1799779"/>
            <a:ext cx="266313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Reciben cupón preventivo (VERDADEROS POSITIVOS)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6605" y="2128391"/>
            <a:ext cx="2663130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5599" y="2570411"/>
            <a:ext cx="13851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Retrasos no detectados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6605" y="2802880"/>
            <a:ext cx="266313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Falsos negativos — el coste real a minimizar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6605" y="3131493"/>
            <a:ext cx="2663130" cy="33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859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51335" y="357351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Cupones de más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6605" y="3805982"/>
            <a:ext cx="266313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Falsos positivos — coste asumible y predecible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041" y="1074390"/>
            <a:ext cx="4118967" cy="324028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56605" y="4479429"/>
            <a:ext cx="7030715" cy="346695"/>
          </a:xfrm>
          <a:prstGeom prst="roundRect">
            <a:avLst>
              <a:gd name="adj" fmla="val 12344"/>
            </a:avLst>
          </a:prstGeom>
          <a:solidFill>
            <a:srgbClr val="B6FC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78" y="4617616"/>
            <a:ext cx="127322" cy="1018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87673" y="4578102"/>
            <a:ext cx="6597774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cupón enviado de más sorprende positivamente. Un cliente que reclama sin atención es un daño de reputación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04577"/>
            <a:ext cx="22150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Conclusiones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35" y="768623"/>
            <a:ext cx="166092" cy="166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779" y="754484"/>
            <a:ext cx="183103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Los retrasos son anticipables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10779" y="979363"/>
            <a:ext cx="2115369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son aleatorios: tienen causas identificables confirmadas por tres metodologías independientes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5794" y="768623"/>
            <a:ext cx="166092" cy="166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94137" y="754484"/>
            <a:ext cx="2115443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 descuento alto es el factor de riesgo nº 1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694137" y="1152376"/>
            <a:ext cx="2115443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Confirmado por EDA, modelos supervisados y clustering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9227" y="768623"/>
            <a:ext cx="166092" cy="166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77570" y="754484"/>
            <a:ext cx="2115443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Alinear el modelo con el negocio es clave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7570" y="1152376"/>
            <a:ext cx="2115443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parámetro bien calibrado vale tanto como elegir el algoritmo correcto.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50912" y="1573113"/>
            <a:ext cx="7642101" cy="8260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750912" y="1738833"/>
            <a:ext cx="22150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Próximos pasos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50912" y="214550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12" y="2319412"/>
            <a:ext cx="2489671" cy="142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0912" y="240335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Enriquecer el modelo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750912" y="2628230"/>
            <a:ext cx="2489671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Añadir la variable Cluster como feature al modelo supervisado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3327053" y="214550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7053" y="2319412"/>
            <a:ext cx="2489746" cy="142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27053" y="240335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Datos externos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3327053" y="2628230"/>
            <a:ext cx="2489746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Clima, calendario promocional y capacidad del almacén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5903268" y="214550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268" y="2319412"/>
            <a:ext cx="2489671" cy="142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03268" y="240335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Umbral de decisión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903268" y="2628230"/>
            <a:ext cx="2489671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Calibrar el umbral por debajo del 50% según el coste real del cupón vs. el daño de reputación por retraso no detectado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50912" y="3268489"/>
            <a:ext cx="7642101" cy="8260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27" name="Text 19"/>
          <p:cNvSpPr/>
          <p:nvPr/>
        </p:nvSpPr>
        <p:spPr>
          <a:xfrm>
            <a:off x="750912" y="3445594"/>
            <a:ext cx="22150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Demo: On-Time AI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750912" y="3852267"/>
            <a:ext cx="7642101" cy="147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</a:t>
            </a:r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licación interactiva desarrollada con Streamlit:</a:t>
            </a:r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150"/>
              </a:lnSpc>
              <a:buNone/>
            </a:pPr>
            <a:r>
              <a:rPr lang="en-US" sz="850" u="sng" dirty="0">
                <a:solidFill>
                  <a:srgbClr val="3A6B7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mlshipping-ontimeai.streamlit.app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50912" y="4086076"/>
            <a:ext cx="2489671" cy="742057"/>
          </a:xfrm>
          <a:prstGeom prst="roundRect">
            <a:avLst>
              <a:gd name="adj" fmla="val 6269"/>
            </a:avLst>
          </a:prstGeom>
          <a:solidFill>
            <a:srgbClr val="64B8CE"/>
          </a:solidFill>
          <a:ln/>
        </p:spPr>
      </p:sp>
      <p:sp>
        <p:nvSpPr>
          <p:cNvPr id="30" name="Text 22"/>
          <p:cNvSpPr/>
          <p:nvPr/>
        </p:nvSpPr>
        <p:spPr>
          <a:xfrm>
            <a:off x="861640" y="420819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Predicción Individual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61640" y="4433069"/>
            <a:ext cx="226821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los datos de un envío y predice si llegará tarde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3327053" y="4086076"/>
            <a:ext cx="2489746" cy="742057"/>
          </a:xfrm>
          <a:prstGeom prst="roundRect">
            <a:avLst>
              <a:gd name="adj" fmla="val 6269"/>
            </a:avLst>
          </a:prstGeom>
          <a:solidFill>
            <a:srgbClr val="64B8CE"/>
          </a:solidFill>
          <a:ln/>
        </p:spPr>
      </p:sp>
      <p:sp>
        <p:nvSpPr>
          <p:cNvPr id="33" name="Text 25"/>
          <p:cNvSpPr/>
          <p:nvPr/>
        </p:nvSpPr>
        <p:spPr>
          <a:xfrm>
            <a:off x="3437781" y="420819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Carga Masiva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3437781" y="4433069"/>
            <a:ext cx="2268289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Sube un CSV y descarga las predicciones para todos los envíos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5903268" y="4086076"/>
            <a:ext cx="2489671" cy="742057"/>
          </a:xfrm>
          <a:prstGeom prst="roundRect">
            <a:avLst>
              <a:gd name="adj" fmla="val 6269"/>
            </a:avLst>
          </a:prstGeom>
          <a:solidFill>
            <a:srgbClr val="64B8CE"/>
          </a:solidFill>
          <a:ln/>
        </p:spPr>
      </p:sp>
      <p:sp>
        <p:nvSpPr>
          <p:cNvPr id="36" name="Text 28"/>
          <p:cNvSpPr/>
          <p:nvPr/>
        </p:nvSpPr>
        <p:spPr>
          <a:xfrm>
            <a:off x="6013996" y="420819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6013996" y="4433069"/>
            <a:ext cx="226821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Visualización de los hallazgos clave del proyecto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40855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MILESKER!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3925119" y="2664842"/>
            <a:ext cx="4722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Irene Díaz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de Machine Learning - Bootcamp Data Science - The Bridge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2026-05-14T07:54:20Z</dcterms:created>
  <dcterms:modified xsi:type="dcterms:W3CDTF">2026-05-14T07:54:20Z</dcterms:modified>
</cp:coreProperties>
</file>